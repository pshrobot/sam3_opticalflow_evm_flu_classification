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mov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 the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C170005-533E-4028-832E-B978F6464D3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BC29E3-B9B9-4327-A677-9518D9A24EB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DDADED-BD6D-4D7E-870B-08512CDAF39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6ECE1E-DE7A-49E6-BC77-1F38CF409BE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61E553-0DFF-41BA-86F4-E21674E849A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5028B5-1BF2-4690-93A5-244C8E5D3EE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36B81C-7269-4816-A2A2-D95E2C89DE5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FFDC13-2EA8-4C14-88BD-2D0CB99DE9D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31898A-6A96-41E1-B9A5-7B6C4E7127D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text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form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426600" y="839880"/>
            <a:ext cx="8290440" cy="13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2001"/>
              </a:spcAft>
              <a:tabLst>
                <a:tab algn="l" pos="0"/>
              </a:tabLst>
            </a:pPr>
            <a:r>
              <a:rPr b="1" lang="zh-CN" sz="3600" spc="-1" strike="noStrike">
                <a:solidFill>
                  <a:srgbClr val="ffffff"/>
                </a:solidFill>
                <a:latin typeface="Arial"/>
                <a:ea typeface="Arial"/>
              </a:rPr>
              <a:t>양계장 </a:t>
            </a:r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CCTV </a:t>
            </a:r>
            <a:r>
              <a:rPr b="1" lang="zh-CN" sz="3600" spc="-1" strike="noStrike">
                <a:solidFill>
                  <a:srgbClr val="ffffff"/>
                </a:solidFill>
                <a:latin typeface="Arial"/>
                <a:ea typeface="Arial"/>
              </a:rPr>
              <a:t>기반 닭 건강 상태 자동 분류 시스템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426600" y="2427120"/>
            <a:ext cx="82904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0"/>
              </a:spcAft>
              <a:tabLst>
                <a:tab algn="l" pos="0"/>
              </a:tabLst>
            </a:pPr>
            <a:r>
              <a:rPr b="0" lang="en-US" sz="2400" spc="-1" strike="noStrike">
                <a:solidFill>
                  <a:srgbClr val="5dade2"/>
                </a:solidFill>
                <a:latin typeface="Arial"/>
                <a:ea typeface="Arial"/>
              </a:rPr>
              <a:t>Optical Flow + EVM </a:t>
            </a:r>
            <a:r>
              <a:rPr b="0" lang="zh-CN" sz="2400" spc="-1" strike="noStrike">
                <a:solidFill>
                  <a:srgbClr val="5dade2"/>
                </a:solidFill>
                <a:latin typeface="Arial"/>
                <a:ea typeface="Arial"/>
              </a:rPr>
              <a:t>기반 움직임 분석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426600" y="3373200"/>
            <a:ext cx="8290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Bef>
                <a:spcPts val="2999"/>
              </a:spcBef>
              <a:spcAft>
                <a:spcPts val="1800"/>
              </a:spcAft>
              <a:tabLst>
                <a:tab algn="l" pos="0"/>
              </a:tabLst>
            </a:pPr>
            <a:r>
              <a:rPr b="0" lang="en-US" sz="1800" spc="-1" strike="noStrike">
                <a:solidFill>
                  <a:srgbClr val="f7dc6f"/>
                </a:solidFill>
                <a:latin typeface="Arial"/>
                <a:ea typeface="Arial"/>
              </a:rPr>
              <a:t>SVI Project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26600" y="3868560"/>
            <a:ext cx="82904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  <a:spcAft>
                <a:spcPts val="1400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85929e"/>
                </a:solidFill>
                <a:latin typeface="Arial"/>
                <a:ea typeface="Arial"/>
              </a:rPr>
              <a:t>2026</a:t>
            </a:r>
            <a:r>
              <a:rPr b="0" lang="zh-CN" sz="1400" spc="-1" strike="noStrike">
                <a:solidFill>
                  <a:srgbClr val="85929e"/>
                </a:solidFill>
                <a:latin typeface="Arial"/>
                <a:ea typeface="Arial"/>
              </a:rPr>
              <a:t>년 </a:t>
            </a:r>
            <a:r>
              <a:rPr b="0" lang="en-US" sz="1400" spc="-1" strike="noStrike">
                <a:solidFill>
                  <a:srgbClr val="85929e"/>
                </a:solidFill>
                <a:latin typeface="Arial"/>
                <a:ea typeface="Arial"/>
              </a:rPr>
              <a:t>1</a:t>
            </a:r>
            <a:r>
              <a:rPr b="0" lang="zh-CN" sz="1400" spc="-1" strike="noStrike">
                <a:solidFill>
                  <a:srgbClr val="85929e"/>
                </a:solidFill>
                <a:latin typeface="Arial"/>
                <a:ea typeface="Arial"/>
              </a:rPr>
              <a:t>월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0" y="0"/>
            <a:ext cx="9143640" cy="89496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Text 1"/>
          <p:cNvSpPr/>
          <p:nvPr/>
        </p:nvSpPr>
        <p:spPr>
          <a:xfrm>
            <a:off x="380880" y="190440"/>
            <a:ext cx="85492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pc="-1" strike="noStrike">
                <a:solidFill>
                  <a:srgbClr val="ffffff"/>
                </a:solidFill>
                <a:latin typeface="Arial"/>
                <a:ea typeface="Arial"/>
              </a:rPr>
              <a:t>프로젝트 개요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507960" y="1123920"/>
            <a:ext cx="8127720" cy="958320"/>
          </a:xfrm>
          <a:prstGeom prst="roundRect">
            <a:avLst>
              <a:gd name="adj" fmla="val 7948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Shape 3"/>
          <p:cNvSpPr/>
          <p:nvPr/>
        </p:nvSpPr>
        <p:spPr>
          <a:xfrm>
            <a:off x="531720" y="1123920"/>
            <a:ext cx="360" cy="958680"/>
          </a:xfrm>
          <a:prstGeom prst="line">
            <a:avLst/>
          </a:prstGeom>
          <a:ln w="47625">
            <a:solidFill>
              <a:srgbClr val="3498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784080" y="1276200"/>
            <a:ext cx="777528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zh-CN" sz="1600" spc="-1" strike="noStrike">
                <a:solidFill>
                  <a:srgbClr val="2c3e50"/>
                </a:solidFill>
                <a:latin typeface="Arial"/>
                <a:ea typeface="Arial"/>
              </a:rPr>
              <a:t>목표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784080" y="1673280"/>
            <a:ext cx="77752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4495e"/>
                </a:solidFill>
                <a:latin typeface="Arial"/>
                <a:ea typeface="Arial"/>
              </a:rPr>
              <a:t>CCTV </a:t>
            </a:r>
            <a:r>
              <a:rPr b="0" lang="zh-CN" sz="1400" spc="-1" strike="noStrike">
                <a:solidFill>
                  <a:srgbClr val="34495e"/>
                </a:solidFill>
                <a:latin typeface="Arial"/>
                <a:ea typeface="Arial"/>
              </a:rPr>
              <a:t>영상에서 정상</a:t>
            </a:r>
            <a:r>
              <a:rPr b="0" lang="en-US" sz="1400" spc="-1" strike="noStrike">
                <a:solidFill>
                  <a:srgbClr val="34495e"/>
                </a:solidFill>
                <a:latin typeface="Arial"/>
                <a:ea typeface="Arial"/>
              </a:rPr>
              <a:t>(Normal) / </a:t>
            </a:r>
            <a:r>
              <a:rPr b="0" lang="zh-CN" sz="1400" spc="-1" strike="noStrike">
                <a:solidFill>
                  <a:srgbClr val="34495e"/>
                </a:solidFill>
                <a:latin typeface="Arial"/>
                <a:ea typeface="Arial"/>
              </a:rPr>
              <a:t>병든</a:t>
            </a:r>
            <a:r>
              <a:rPr b="0" lang="en-US" sz="1400" spc="-1" strike="noStrike">
                <a:solidFill>
                  <a:srgbClr val="34495e"/>
                </a:solidFill>
                <a:latin typeface="Arial"/>
                <a:ea typeface="Arial"/>
              </a:rPr>
              <a:t>(Sick) </a:t>
            </a:r>
            <a:r>
              <a:rPr b="0" lang="zh-CN" sz="1400" spc="-1" strike="noStrike">
                <a:solidFill>
                  <a:srgbClr val="34495e"/>
                </a:solidFill>
                <a:latin typeface="Arial"/>
                <a:ea typeface="Arial"/>
              </a:rPr>
              <a:t>닭 자동 분류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507960" y="2235240"/>
            <a:ext cx="8127720" cy="958320"/>
          </a:xfrm>
          <a:prstGeom prst="roundRect">
            <a:avLst>
              <a:gd name="adj" fmla="val 7948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Shape 7"/>
          <p:cNvSpPr/>
          <p:nvPr/>
        </p:nvSpPr>
        <p:spPr>
          <a:xfrm>
            <a:off x="531720" y="2234880"/>
            <a:ext cx="360" cy="958680"/>
          </a:xfrm>
          <a:prstGeom prst="line">
            <a:avLst/>
          </a:prstGeom>
          <a:ln w="47625">
            <a:solidFill>
              <a:srgbClr val="3498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784080" y="2387520"/>
            <a:ext cx="777528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zh-CN" sz="1600" spc="-1" strike="noStrike">
                <a:solidFill>
                  <a:srgbClr val="2c3e50"/>
                </a:solidFill>
                <a:latin typeface="Arial"/>
                <a:ea typeface="Arial"/>
              </a:rPr>
              <a:t>데이터셋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9"/>
          <p:cNvSpPr/>
          <p:nvPr/>
        </p:nvSpPr>
        <p:spPr>
          <a:xfrm>
            <a:off x="784080" y="2784240"/>
            <a:ext cx="77752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4495e"/>
                </a:solidFill>
                <a:latin typeface="Arial"/>
                <a:ea typeface="Arial"/>
              </a:rPr>
              <a:t>Normal / Sick </a:t>
            </a:r>
            <a:r>
              <a:rPr b="0" lang="zh-CN" sz="1400" spc="-1" strike="noStrike">
                <a:solidFill>
                  <a:srgbClr val="34495e"/>
                </a:solidFill>
                <a:latin typeface="Arial"/>
                <a:ea typeface="Arial"/>
              </a:rPr>
              <a:t>각 약 </a:t>
            </a:r>
            <a:r>
              <a:rPr b="0" lang="en-US" sz="1400" spc="-1" strike="noStrike">
                <a:solidFill>
                  <a:srgbClr val="34495e"/>
                </a:solidFill>
                <a:latin typeface="Arial"/>
                <a:ea typeface="Arial"/>
              </a:rPr>
              <a:t>6,325</a:t>
            </a:r>
            <a:r>
              <a:rPr b="0" lang="zh-CN" sz="1400" spc="-1" strike="noStrike">
                <a:solidFill>
                  <a:srgbClr val="34495e"/>
                </a:solidFill>
                <a:latin typeface="Arial"/>
                <a:ea typeface="Arial"/>
              </a:rPr>
              <a:t>초 비디오 </a:t>
            </a:r>
            <a:r>
              <a:rPr b="0" lang="en-US" sz="1400" spc="-1" strike="noStrike">
                <a:solidFill>
                  <a:srgbClr val="34495e"/>
                </a:solidFill>
                <a:latin typeface="Arial"/>
                <a:ea typeface="Arial"/>
              </a:rPr>
              <a:t>(1fps </a:t>
            </a:r>
            <a:r>
              <a:rPr b="0" lang="zh-CN" sz="1400" spc="-1" strike="noStrike">
                <a:solidFill>
                  <a:srgbClr val="34495e"/>
                </a:solidFill>
                <a:latin typeface="Arial"/>
                <a:ea typeface="Arial"/>
              </a:rPr>
              <a:t>추출</a:t>
            </a:r>
            <a:r>
              <a:rPr b="0" lang="en-US" sz="1400" spc="-1" strike="noStrike">
                <a:solidFill>
                  <a:srgbClr val="34495e"/>
                </a:solidFill>
                <a:latin typeface="Arial"/>
                <a:ea typeface="Arial"/>
              </a:rPr>
              <a:t>, </a:t>
            </a:r>
            <a:r>
              <a:rPr b="0" lang="zh-CN" sz="1400" spc="-1" strike="noStrike">
                <a:solidFill>
                  <a:srgbClr val="34495e"/>
                </a:solidFill>
                <a:latin typeface="Arial"/>
                <a:ea typeface="Arial"/>
              </a:rPr>
              <a:t>각 </a:t>
            </a:r>
            <a:r>
              <a:rPr b="0" lang="en-US" sz="1400" spc="-1" strike="noStrike">
                <a:solidFill>
                  <a:srgbClr val="34495e"/>
                </a:solidFill>
                <a:latin typeface="Arial"/>
                <a:ea typeface="Arial"/>
              </a:rPr>
              <a:t>~5,000 </a:t>
            </a:r>
            <a:r>
              <a:rPr b="0" lang="zh-CN" sz="1400" spc="-1" strike="noStrike">
                <a:solidFill>
                  <a:srgbClr val="34495e"/>
                </a:solidFill>
                <a:latin typeface="Arial"/>
                <a:ea typeface="Arial"/>
              </a:rPr>
              <a:t>프레임</a:t>
            </a:r>
            <a:r>
              <a:rPr b="0" lang="en-US" sz="1400" spc="-1" strike="noStrike">
                <a:solidFill>
                  <a:srgbClr val="34495e"/>
                </a:solidFill>
                <a:latin typeface="Arial"/>
                <a:ea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507960" y="3346200"/>
            <a:ext cx="8127720" cy="1213560"/>
          </a:xfrm>
          <a:prstGeom prst="roundRect">
            <a:avLst>
              <a:gd name="adj" fmla="val 6278"/>
            </a:avLst>
          </a:prstGeom>
          <a:solidFill>
            <a:srgbClr val="ebf5fb"/>
          </a:solidFill>
          <a:ln w="19050">
            <a:solidFill>
              <a:srgbClr val="3498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755640" y="3696120"/>
            <a:ext cx="77850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1403"/>
              </a:spcBef>
              <a:spcAft>
                <a:spcPts val="1403"/>
              </a:spcAft>
              <a:tabLst>
                <a:tab algn="l" pos="0"/>
              </a:tabLst>
            </a:pPr>
            <a:r>
              <a:rPr b="1" lang="zh-CN" sz="1410" spc="-1" strike="noStrike">
                <a:solidFill>
                  <a:srgbClr val="000000"/>
                </a:solidFill>
                <a:latin typeface="Arial"/>
                <a:ea typeface="Arial"/>
              </a:rPr>
              <a:t>핵심 접근법</a:t>
            </a:r>
            <a:endParaRPr b="0" lang="en-US" sz="14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755640" y="4131360"/>
            <a:ext cx="77850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5276"/>
                </a:solidFill>
                <a:latin typeface="Arial"/>
                <a:ea typeface="Arial"/>
              </a:rPr>
              <a:t>Optical Flow</a:t>
            </a:r>
            <a:r>
              <a:rPr b="0" lang="en-US" sz="1400" spc="-1" strike="noStrike">
                <a:solidFill>
                  <a:srgbClr val="1a5276"/>
                </a:solidFill>
                <a:latin typeface="Arial"/>
                <a:ea typeface="Arial"/>
              </a:rPr>
              <a:t> + </a:t>
            </a:r>
            <a:r>
              <a:rPr b="1" lang="en-US" sz="1400" spc="-1" strike="noStrike">
                <a:solidFill>
                  <a:srgbClr val="1a5276"/>
                </a:solidFill>
                <a:latin typeface="Arial"/>
                <a:ea typeface="Arial"/>
              </a:rPr>
              <a:t>EVM (Eulerian Video Magnification)</a:t>
            </a:r>
            <a:r>
              <a:rPr b="0" lang="en-US" sz="1400" spc="-1" strike="noStrike">
                <a:solidFill>
                  <a:srgbClr val="1a5276"/>
                </a:solidFill>
                <a:latin typeface="Arial"/>
                <a:ea typeface="Arial"/>
              </a:rPr>
              <a:t> </a:t>
            </a:r>
            <a:r>
              <a:rPr b="0" lang="zh-CN" sz="1400" spc="-1" strike="noStrike">
                <a:solidFill>
                  <a:srgbClr val="1a5276"/>
                </a:solidFill>
                <a:latin typeface="Arial"/>
                <a:ea typeface="Arial"/>
              </a:rPr>
              <a:t>기반 움직임 분석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0" y="0"/>
            <a:ext cx="9143640" cy="89496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Text 1"/>
          <p:cNvSpPr/>
          <p:nvPr/>
        </p:nvSpPr>
        <p:spPr>
          <a:xfrm>
            <a:off x="380880" y="190440"/>
            <a:ext cx="85492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pc="-1" strike="noStrike">
                <a:solidFill>
                  <a:srgbClr val="ffffff"/>
                </a:solidFill>
                <a:latin typeface="Arial"/>
                <a:ea typeface="Arial"/>
              </a:rPr>
              <a:t>분석 파이프라인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255600" y="2038320"/>
            <a:ext cx="1549080" cy="504360"/>
          </a:xfrm>
          <a:prstGeom prst="roundRect">
            <a:avLst>
              <a:gd name="adj" fmla="val 15094"/>
            </a:avLst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Text 3"/>
          <p:cNvSpPr/>
          <p:nvPr/>
        </p:nvSpPr>
        <p:spPr>
          <a:xfrm>
            <a:off x="447120" y="2190600"/>
            <a:ext cx="11656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ffffff"/>
                </a:solidFill>
                <a:latin typeface="Arial"/>
                <a:ea typeface="Arial"/>
              </a:rPr>
              <a:t>원본 비디오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1906200" y="2157120"/>
            <a:ext cx="232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tabLst>
                <a:tab algn="l" pos="0"/>
              </a:tabLst>
            </a:pPr>
            <a:r>
              <a:rPr b="0" lang="en-US" sz="1800" spc="-1" strike="noStrike">
                <a:solidFill>
                  <a:srgbClr val="7f8c8d"/>
                </a:solidFill>
                <a:latin typeface="Arial"/>
                <a:ea typeface="Arial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2272320" y="2290320"/>
            <a:ext cx="1549080" cy="504360"/>
          </a:xfrm>
          <a:prstGeom prst="roundRect">
            <a:avLst>
              <a:gd name="adj" fmla="val 15094"/>
            </a:avLst>
          </a:prstGeom>
          <a:solidFill>
            <a:srgbClr val="2980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Text 6"/>
          <p:cNvSpPr/>
          <p:nvPr/>
        </p:nvSpPr>
        <p:spPr>
          <a:xfrm>
            <a:off x="2464200" y="2442600"/>
            <a:ext cx="11656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EVM </a:t>
            </a:r>
            <a:r>
              <a:rPr b="0" lang="zh-CN" sz="1100" spc="-1" strike="noStrike">
                <a:solidFill>
                  <a:srgbClr val="ffffff"/>
                </a:solidFill>
                <a:latin typeface="Arial"/>
                <a:ea typeface="Arial"/>
              </a:rPr>
              <a:t>증폭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7"/>
          <p:cNvSpPr/>
          <p:nvPr/>
        </p:nvSpPr>
        <p:spPr>
          <a:xfrm>
            <a:off x="3887280" y="2157120"/>
            <a:ext cx="232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tabLst>
                <a:tab algn="l" pos="0"/>
              </a:tabLst>
            </a:pPr>
            <a:r>
              <a:rPr b="0" lang="en-US" sz="1800" spc="-1" strike="noStrike">
                <a:solidFill>
                  <a:srgbClr val="7f8c8d"/>
                </a:solidFill>
                <a:latin typeface="Arial"/>
                <a:ea typeface="Arial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8"/>
          <p:cNvSpPr/>
          <p:nvPr/>
        </p:nvSpPr>
        <p:spPr>
          <a:xfrm>
            <a:off x="2246400" y="1742040"/>
            <a:ext cx="1567800" cy="504360"/>
          </a:xfrm>
          <a:prstGeom prst="roundRect">
            <a:avLst>
              <a:gd name="adj" fmla="val 15094"/>
            </a:avLst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Text 9"/>
          <p:cNvSpPr/>
          <p:nvPr/>
        </p:nvSpPr>
        <p:spPr>
          <a:xfrm>
            <a:off x="2437920" y="1822320"/>
            <a:ext cx="11847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SAM3 </a:t>
            </a:r>
            <a:r>
              <a:rPr b="0" lang="zh-CN" sz="1100" spc="-1" strike="noStrike">
                <a:solidFill>
                  <a:srgbClr val="ffffff"/>
                </a:solidFill>
                <a:latin typeface="Arial"/>
                <a:ea typeface="Arial"/>
              </a:rPr>
              <a:t>세그멘테이션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4201200" y="2038320"/>
            <a:ext cx="1549080" cy="504360"/>
          </a:xfrm>
          <a:prstGeom prst="roundRect">
            <a:avLst>
              <a:gd name="adj" fmla="val 15094"/>
            </a:avLst>
          </a:prstGeom>
          <a:solidFill>
            <a:srgbClr val="2980b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4392720" y="2190600"/>
            <a:ext cx="11656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ID</a:t>
            </a:r>
            <a:r>
              <a:rPr b="0" lang="zh-CN" sz="1100" spc="-1" strike="noStrike">
                <a:solidFill>
                  <a:srgbClr val="ffffff"/>
                </a:solidFill>
                <a:latin typeface="Arial"/>
                <a:ea typeface="Arial"/>
              </a:rPr>
              <a:t>별 </a:t>
            </a: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OF </a:t>
            </a:r>
            <a:r>
              <a:rPr b="0" lang="zh-CN" sz="1100" spc="-1" strike="noStrike">
                <a:solidFill>
                  <a:srgbClr val="ffffff"/>
                </a:solidFill>
                <a:latin typeface="Arial"/>
                <a:ea typeface="Arial"/>
              </a:rPr>
              <a:t>추출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5851800" y="2157120"/>
            <a:ext cx="232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tabLst>
                <a:tab algn="l" pos="0"/>
              </a:tabLst>
            </a:pPr>
            <a:r>
              <a:rPr b="0" lang="en-US" sz="1800" spc="-1" strike="noStrike">
                <a:solidFill>
                  <a:srgbClr val="7f8c8d"/>
                </a:solidFill>
                <a:latin typeface="Arial"/>
                <a:ea typeface="Arial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6192360" y="2015280"/>
            <a:ext cx="1549080" cy="504360"/>
          </a:xfrm>
          <a:prstGeom prst="roundRect">
            <a:avLst>
              <a:gd name="adj" fmla="val 15094"/>
            </a:avLst>
          </a:prstGeom>
          <a:solidFill>
            <a:srgbClr val="3498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6383880" y="2167920"/>
            <a:ext cx="11656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ffffff"/>
                </a:solidFill>
                <a:latin typeface="Arial"/>
                <a:ea typeface="Arial"/>
              </a:rPr>
              <a:t>피처 생성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7843320" y="2134440"/>
            <a:ext cx="232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tabLst>
                <a:tab algn="l" pos="0"/>
              </a:tabLst>
            </a:pPr>
            <a:r>
              <a:rPr b="0" lang="en-US" sz="1800" spc="-1" strike="noStrike">
                <a:solidFill>
                  <a:srgbClr val="7f8c8d"/>
                </a:solidFill>
                <a:latin typeface="Arial"/>
                <a:ea typeface="Arial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7451640" y="2647440"/>
            <a:ext cx="1549080" cy="504360"/>
          </a:xfrm>
          <a:prstGeom prst="roundRect">
            <a:avLst>
              <a:gd name="adj" fmla="val 15094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Text 18"/>
          <p:cNvSpPr/>
          <p:nvPr/>
        </p:nvSpPr>
        <p:spPr>
          <a:xfrm>
            <a:off x="7643520" y="2800080"/>
            <a:ext cx="11656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LightGBM </a:t>
            </a:r>
            <a:r>
              <a:rPr b="0" lang="zh-CN" sz="1100" spc="-1" strike="noStrike">
                <a:solidFill>
                  <a:srgbClr val="ffffff"/>
                </a:solidFill>
                <a:latin typeface="Arial"/>
                <a:ea typeface="Arial"/>
              </a:rPr>
              <a:t>분류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9"/>
          <p:cNvSpPr/>
          <p:nvPr/>
        </p:nvSpPr>
        <p:spPr>
          <a:xfrm>
            <a:off x="1737000" y="3371760"/>
            <a:ext cx="2436120" cy="453600"/>
          </a:xfrm>
          <a:prstGeom prst="roundRect">
            <a:avLst>
              <a:gd name="adj" fmla="val 16787"/>
            </a:avLst>
          </a:prstGeom>
          <a:solidFill>
            <a:srgbClr val="ffffff"/>
          </a:solidFill>
          <a:ln w="9525">
            <a:solidFill>
              <a:srgbClr val="bdc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1937160" y="3508200"/>
            <a:ext cx="20768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apply_evm.py</a:t>
            </a: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: </a:t>
            </a:r>
            <a:r>
              <a:rPr b="0" lang="zh-CN" sz="1000" spc="-1" strike="noStrike">
                <a:solidFill>
                  <a:srgbClr val="2c3e50"/>
                </a:solidFill>
                <a:latin typeface="Arial"/>
                <a:ea typeface="Arial"/>
              </a:rPr>
              <a:t>미세움직임 </a:t>
            </a: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20</a:t>
            </a:r>
            <a:r>
              <a:rPr b="0" lang="zh-CN" sz="1000" spc="-1" strike="noStrike">
                <a:solidFill>
                  <a:srgbClr val="2c3e50"/>
                </a:solidFill>
                <a:latin typeface="Arial"/>
                <a:ea typeface="Arial"/>
              </a:rPr>
              <a:t>배 증폭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21"/>
          <p:cNvSpPr/>
          <p:nvPr/>
        </p:nvSpPr>
        <p:spPr>
          <a:xfrm>
            <a:off x="4363920" y="3371760"/>
            <a:ext cx="3042720" cy="453600"/>
          </a:xfrm>
          <a:prstGeom prst="roundRect">
            <a:avLst>
              <a:gd name="adj" fmla="val 16787"/>
            </a:avLst>
          </a:prstGeom>
          <a:solidFill>
            <a:srgbClr val="ffffff"/>
          </a:solidFill>
          <a:ln w="9525">
            <a:solidFill>
              <a:srgbClr val="bdc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Text 22"/>
          <p:cNvSpPr/>
          <p:nvPr/>
        </p:nvSpPr>
        <p:spPr>
          <a:xfrm>
            <a:off x="4564080" y="3508200"/>
            <a:ext cx="26953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extract_optical_flow_per_id.py</a:t>
            </a: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: ID</a:t>
            </a:r>
            <a:r>
              <a:rPr b="0" lang="zh-CN" sz="1000" spc="-1" strike="noStrike">
                <a:solidFill>
                  <a:srgbClr val="2c3e50"/>
                </a:solidFill>
                <a:latin typeface="Arial"/>
                <a:ea typeface="Arial"/>
              </a:rPr>
              <a:t>별 </a:t>
            </a: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OF </a:t>
            </a:r>
            <a:r>
              <a:rPr b="0" lang="zh-CN" sz="1000" spc="-1" strike="noStrike">
                <a:solidFill>
                  <a:srgbClr val="2c3e50"/>
                </a:solidFill>
                <a:latin typeface="Arial"/>
                <a:ea typeface="Arial"/>
              </a:rPr>
              <a:t>통계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3"/>
          <p:cNvSpPr/>
          <p:nvPr/>
        </p:nvSpPr>
        <p:spPr>
          <a:xfrm>
            <a:off x="1514160" y="4016160"/>
            <a:ext cx="3148560" cy="453600"/>
          </a:xfrm>
          <a:prstGeom prst="roundRect">
            <a:avLst>
              <a:gd name="adj" fmla="val 16787"/>
            </a:avLst>
          </a:prstGeom>
          <a:solidFill>
            <a:srgbClr val="ffffff"/>
          </a:solidFill>
          <a:ln w="9525">
            <a:solidFill>
              <a:srgbClr val="bdc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Text 24"/>
          <p:cNvSpPr/>
          <p:nvPr/>
        </p:nvSpPr>
        <p:spPr>
          <a:xfrm>
            <a:off x="1714320" y="4152600"/>
            <a:ext cx="28033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create_lightgbm_features.py</a:t>
            </a: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: </a:t>
            </a:r>
            <a:r>
              <a:rPr b="0" lang="zh-CN" sz="1000" spc="-1" strike="noStrike">
                <a:solidFill>
                  <a:srgbClr val="2c3e50"/>
                </a:solidFill>
                <a:latin typeface="Arial"/>
                <a:ea typeface="Arial"/>
              </a:rPr>
              <a:t>분위수 히스토그램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5"/>
          <p:cNvSpPr/>
          <p:nvPr/>
        </p:nvSpPr>
        <p:spPr>
          <a:xfrm>
            <a:off x="4853520" y="4016160"/>
            <a:ext cx="2775600" cy="453600"/>
          </a:xfrm>
          <a:prstGeom prst="roundRect">
            <a:avLst>
              <a:gd name="adj" fmla="val 16787"/>
            </a:avLst>
          </a:prstGeom>
          <a:solidFill>
            <a:srgbClr val="ffffff"/>
          </a:solidFill>
          <a:ln w="9525">
            <a:solidFill>
              <a:srgbClr val="bdc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Text 26"/>
          <p:cNvSpPr/>
          <p:nvPr/>
        </p:nvSpPr>
        <p:spPr>
          <a:xfrm>
            <a:off x="5053680" y="4152600"/>
            <a:ext cx="242316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train_lightgbm_id_features.py</a:t>
            </a: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: </a:t>
            </a:r>
            <a:r>
              <a:rPr b="0" lang="zh-CN" sz="1000" spc="-1" strike="noStrike">
                <a:solidFill>
                  <a:srgbClr val="2c3e50"/>
                </a:solidFill>
                <a:latin typeface="Arial"/>
                <a:ea typeface="Arial"/>
              </a:rPr>
              <a:t>모델 학습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0" y="0"/>
            <a:ext cx="9143640" cy="89496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Text 1"/>
          <p:cNvSpPr/>
          <p:nvPr/>
        </p:nvSpPr>
        <p:spPr>
          <a:xfrm>
            <a:off x="380880" y="190440"/>
            <a:ext cx="85492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  <a:ea typeface="Arial"/>
              </a:rPr>
              <a:t>Optical Flow </a:t>
            </a:r>
            <a:r>
              <a:rPr b="1" lang="zh-CN" sz="2800" spc="-1" strike="noStrike">
                <a:solidFill>
                  <a:srgbClr val="ffffff"/>
                </a:solidFill>
                <a:latin typeface="Arial"/>
                <a:ea typeface="Arial"/>
              </a:rPr>
              <a:t>실험 결과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380880" y="1149120"/>
            <a:ext cx="8381520" cy="21585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Text 3"/>
          <p:cNvSpPr/>
          <p:nvPr/>
        </p:nvSpPr>
        <p:spPr>
          <a:xfrm>
            <a:off x="380880" y="3498480"/>
            <a:ext cx="8381520" cy="676080"/>
          </a:xfrm>
          <a:prstGeom prst="roundRect">
            <a:avLst>
              <a:gd name="adj" fmla="val 15024"/>
            </a:avLst>
          </a:prstGeom>
          <a:solidFill>
            <a:srgbClr val="d5f5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409320" y="3498480"/>
            <a:ext cx="360" cy="676440"/>
          </a:xfrm>
          <a:prstGeom prst="line">
            <a:avLst/>
          </a:prstGeom>
          <a:ln w="5715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691920" y="3689280"/>
            <a:ext cx="79729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600" spc="-1" strike="noStrike">
                <a:solidFill>
                  <a:srgbClr val="1e8449"/>
                </a:solidFill>
                <a:latin typeface="Arial"/>
                <a:ea typeface="Arial"/>
              </a:rPr>
              <a:t>핵심 발견</a:t>
            </a:r>
            <a:r>
              <a:rPr b="1" lang="en-US" sz="1600" spc="-1" strike="noStrike">
                <a:solidFill>
                  <a:srgbClr val="1e8449"/>
                </a:solidFill>
                <a:latin typeface="Arial"/>
                <a:ea typeface="Arial"/>
              </a:rPr>
              <a:t>:</a:t>
            </a:r>
            <a:r>
              <a:rPr b="0" lang="en-US" sz="1600" spc="-1" strike="noStrike">
                <a:solidFill>
                  <a:srgbClr val="1e8449"/>
                </a:solidFill>
                <a:latin typeface="Arial"/>
                <a:ea typeface="Arial"/>
              </a:rPr>
              <a:t> ID</a:t>
            </a:r>
            <a:r>
              <a:rPr b="0" lang="zh-CN" sz="1600" spc="-1" strike="noStrike">
                <a:solidFill>
                  <a:srgbClr val="1e8449"/>
                </a:solidFill>
                <a:latin typeface="Arial"/>
                <a:ea typeface="Arial"/>
              </a:rPr>
              <a:t>별 추적으로 전체 프레임 대비 </a:t>
            </a:r>
            <a:r>
              <a:rPr b="1" lang="en-US" sz="1600" spc="-1" strike="noStrike">
                <a:solidFill>
                  <a:srgbClr val="1e8449"/>
                </a:solidFill>
                <a:latin typeface="Arial"/>
                <a:ea typeface="Arial"/>
              </a:rPr>
              <a:t>+6.85%p AUC</a:t>
            </a:r>
            <a:r>
              <a:rPr b="0" lang="en-US" sz="1600" spc="-1" strike="noStrike">
                <a:solidFill>
                  <a:srgbClr val="1e8449"/>
                </a:solidFill>
                <a:latin typeface="Arial"/>
                <a:ea typeface="Arial"/>
              </a:rPr>
              <a:t> </a:t>
            </a:r>
            <a:r>
              <a:rPr b="0" lang="zh-CN" sz="1600" spc="-1" strike="noStrike">
                <a:solidFill>
                  <a:srgbClr val="1e8449"/>
                </a:solidFill>
                <a:latin typeface="Arial"/>
                <a:ea typeface="Arial"/>
              </a:rPr>
              <a:t>향상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7" name="Table 0"/>
          <p:cNvGraphicFramePr/>
          <p:nvPr/>
        </p:nvGraphicFramePr>
        <p:xfrm>
          <a:off x="571680" y="1339920"/>
          <a:ext cx="8000640" cy="1777680"/>
        </p:xfrm>
        <a:graphic>
          <a:graphicData uri="http://schemas.openxmlformats.org/drawingml/2006/table">
            <a:tbl>
              <a:tblPr/>
              <a:tblGrid>
                <a:gridCol w="2000160"/>
                <a:gridCol w="2000160"/>
                <a:gridCol w="2000160"/>
                <a:gridCol w="2000160"/>
              </a:tblGrid>
              <a:tr h="3553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방법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피처 수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</a:tr>
              <a:tr h="3553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전체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r>
                        <a:rPr b="0" lang="zh-CN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이전 프레임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77.19%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85.88%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3553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전체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r>
                        <a:rPr b="0" lang="zh-CN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합집합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77.59%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85.25%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3553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ID</a:t>
                      </a:r>
                      <a:r>
                        <a:rPr b="0" lang="zh-CN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별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r>
                        <a:rPr b="0" lang="zh-CN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이전 프레임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403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83.99%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91.46%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3553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ID</a:t>
                      </a:r>
                      <a:r>
                        <a:rPr b="1" lang="zh-CN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별</a:t>
                      </a: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r>
                        <a:rPr b="1" lang="zh-CN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합집합 </a:t>
                      </a: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</a:t>
                      </a:r>
                      <a:r>
                        <a:rPr b="1" lang="zh-CN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기준</a:t>
                      </a: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403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27ae60"/>
                          </a:solidFill>
                          <a:latin typeface="Calibri"/>
                        </a:rPr>
                        <a:t>84.62%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27ae60"/>
                          </a:solidFill>
                          <a:latin typeface="Calibri"/>
                        </a:rPr>
                        <a:t>92.73%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0" y="0"/>
            <a:ext cx="9143640" cy="89496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Text 1"/>
          <p:cNvSpPr/>
          <p:nvPr/>
        </p:nvSpPr>
        <p:spPr>
          <a:xfrm>
            <a:off x="380880" y="190440"/>
            <a:ext cx="85492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  <a:ea typeface="Arial"/>
              </a:rPr>
              <a:t>EVM </a:t>
            </a:r>
            <a:r>
              <a:rPr b="1" lang="zh-CN" sz="2800" spc="-1" strike="noStrike">
                <a:solidFill>
                  <a:srgbClr val="ffffff"/>
                </a:solidFill>
                <a:latin typeface="Arial"/>
                <a:ea typeface="Arial"/>
              </a:rPr>
              <a:t>도입 효과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380880" y="1085760"/>
            <a:ext cx="3723120" cy="1774440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9525">
            <a:solidFill>
              <a:srgbClr val="bdc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Text 3"/>
          <p:cNvSpPr/>
          <p:nvPr/>
        </p:nvSpPr>
        <p:spPr>
          <a:xfrm>
            <a:off x="542880" y="1247760"/>
            <a:ext cx="346716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EVM </a:t>
            </a:r>
            <a:r>
              <a:rPr b="1" lang="zh-CN" sz="1400" spc="-1" strike="noStrike">
                <a:solidFill>
                  <a:srgbClr val="2c3e50"/>
                </a:solidFill>
                <a:latin typeface="Arial"/>
                <a:ea typeface="Arial"/>
              </a:rPr>
              <a:t>파라미터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542880" y="1631880"/>
            <a:ext cx="346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0" lang="zh-CN" sz="1200" spc="-1" strike="noStrike">
                <a:solidFill>
                  <a:srgbClr val="34495e"/>
                </a:solidFill>
                <a:latin typeface="Arial"/>
                <a:ea typeface="Arial"/>
              </a:rPr>
              <a:t>주파수 범위</a:t>
            </a:r>
            <a:r>
              <a:rPr b="0" lang="en-US" sz="1200" spc="-1" strike="noStrike">
                <a:solidFill>
                  <a:srgbClr val="34495e"/>
                </a:solidFill>
                <a:latin typeface="Arial"/>
                <a:ea typeface="Arial"/>
              </a:rPr>
              <a:t>: 0.5 ~ 2.0 Hz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542880" y="1898640"/>
            <a:ext cx="346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0" lang="zh-CN" sz="1200" spc="-1" strike="noStrike">
                <a:solidFill>
                  <a:srgbClr val="34495e"/>
                </a:solidFill>
                <a:latin typeface="Arial"/>
                <a:ea typeface="Arial"/>
              </a:rPr>
              <a:t>증폭 배율</a:t>
            </a:r>
            <a:r>
              <a:rPr b="0" lang="en-US" sz="1200" spc="-1" strike="noStrike">
                <a:solidFill>
                  <a:srgbClr val="34495e"/>
                </a:solidFill>
                <a:latin typeface="Arial"/>
                <a:ea typeface="Arial"/>
              </a:rPr>
              <a:t>: 20</a:t>
            </a:r>
            <a:r>
              <a:rPr b="0" lang="zh-CN" sz="1200" spc="-1" strike="noStrike">
                <a:solidFill>
                  <a:srgbClr val="34495e"/>
                </a:solidFill>
                <a:latin typeface="Arial"/>
                <a:ea typeface="Arial"/>
              </a:rPr>
              <a:t>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542880" y="2165400"/>
            <a:ext cx="346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0" lang="zh-CN" sz="1200" spc="-1" strike="noStrike">
                <a:solidFill>
                  <a:srgbClr val="34495e"/>
                </a:solidFill>
                <a:latin typeface="Arial"/>
                <a:ea typeface="Arial"/>
              </a:rPr>
              <a:t>피라미드 레벨</a:t>
            </a:r>
            <a:r>
              <a:rPr b="0" lang="en-US" sz="1200" spc="-1" strike="noStrike">
                <a:solidFill>
                  <a:srgbClr val="34495e"/>
                </a:solidFill>
                <a:latin typeface="Arial"/>
                <a:ea typeface="Arial"/>
              </a:rPr>
              <a:t>: 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542880" y="2432160"/>
            <a:ext cx="346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0" lang="zh-CN" sz="1200" spc="-1" strike="noStrike">
                <a:solidFill>
                  <a:srgbClr val="34495e"/>
                </a:solidFill>
                <a:latin typeface="Arial"/>
                <a:ea typeface="Arial"/>
              </a:rPr>
              <a:t>처리 시간</a:t>
            </a:r>
            <a:r>
              <a:rPr b="0" lang="en-US" sz="1200" spc="-1" strike="noStrike">
                <a:solidFill>
                  <a:srgbClr val="34495e"/>
                </a:solidFill>
                <a:latin typeface="Arial"/>
                <a:ea typeface="Arial"/>
              </a:rPr>
              <a:t>: ~12</a:t>
            </a:r>
            <a:r>
              <a:rPr b="0" lang="zh-CN" sz="1200" spc="-1" strike="noStrike">
                <a:solidFill>
                  <a:srgbClr val="34495e"/>
                </a:solidFill>
                <a:latin typeface="Arial"/>
                <a:ea typeface="Arial"/>
              </a:rPr>
              <a:t>분</a:t>
            </a:r>
            <a:r>
              <a:rPr b="0" lang="en-US" sz="1200" spc="-1" strike="noStrike">
                <a:solidFill>
                  <a:srgbClr val="34495e"/>
                </a:solidFill>
                <a:latin typeface="Arial"/>
                <a:ea typeface="Arial"/>
              </a:rPr>
              <a:t>/</a:t>
            </a:r>
            <a:r>
              <a:rPr b="0" lang="zh-CN" sz="1200" spc="-1" strike="noStrike">
                <a:solidFill>
                  <a:srgbClr val="34495e"/>
                </a:solidFill>
                <a:latin typeface="Arial"/>
                <a:ea typeface="Arial"/>
              </a:rPr>
              <a:t>비디오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8"/>
          <p:cNvSpPr/>
          <p:nvPr/>
        </p:nvSpPr>
        <p:spPr>
          <a:xfrm>
            <a:off x="380880" y="3051000"/>
            <a:ext cx="3723120" cy="767880"/>
          </a:xfrm>
          <a:prstGeom prst="roundRect">
            <a:avLst>
              <a:gd name="adj" fmla="val 9919"/>
            </a:avLst>
          </a:prstGeom>
          <a:solidFill>
            <a:srgbClr val="d5f5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Shape 9"/>
          <p:cNvSpPr/>
          <p:nvPr/>
        </p:nvSpPr>
        <p:spPr>
          <a:xfrm>
            <a:off x="404640" y="3051000"/>
            <a:ext cx="360" cy="768240"/>
          </a:xfrm>
          <a:prstGeom prst="line">
            <a:avLst/>
          </a:prstGeom>
          <a:ln w="47625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0"/>
          <p:cNvSpPr/>
          <p:nvPr/>
        </p:nvSpPr>
        <p:spPr>
          <a:xfrm>
            <a:off x="581040" y="3178080"/>
            <a:ext cx="34380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8449"/>
                </a:solidFill>
                <a:latin typeface="Arial"/>
                <a:ea typeface="Arial"/>
              </a:rPr>
              <a:t>EVM </a:t>
            </a:r>
            <a:r>
              <a:rPr b="1" lang="zh-CN" sz="1400" spc="-1" strike="noStrike">
                <a:solidFill>
                  <a:srgbClr val="1e8449"/>
                </a:solidFill>
                <a:latin typeface="Arial"/>
                <a:ea typeface="Arial"/>
              </a:rPr>
              <a:t>도입 효과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1"/>
          <p:cNvSpPr/>
          <p:nvPr/>
        </p:nvSpPr>
        <p:spPr>
          <a:xfrm>
            <a:off x="581040" y="3435120"/>
            <a:ext cx="34380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8449"/>
                </a:solidFill>
                <a:latin typeface="Arial"/>
                <a:ea typeface="Arial"/>
              </a:rPr>
              <a:t>+4.27%p</a:t>
            </a:r>
            <a:r>
              <a:rPr b="0" lang="en-US" sz="1400" spc="-1" strike="noStrike">
                <a:solidFill>
                  <a:srgbClr val="1e8449"/>
                </a:solidFill>
                <a:latin typeface="Arial"/>
                <a:ea typeface="Arial"/>
              </a:rPr>
              <a:t> AUC </a:t>
            </a:r>
            <a:r>
              <a:rPr b="0" lang="zh-CN" sz="1400" spc="-1" strike="noStrike">
                <a:solidFill>
                  <a:srgbClr val="1e8449"/>
                </a:solidFill>
                <a:latin typeface="Arial"/>
                <a:ea typeface="Arial"/>
              </a:rPr>
              <a:t>향상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2"/>
          <p:cNvSpPr/>
          <p:nvPr/>
        </p:nvSpPr>
        <p:spPr>
          <a:xfrm>
            <a:off x="4294800" y="1085760"/>
            <a:ext cx="4467600" cy="3930480"/>
          </a:xfrm>
          <a:prstGeom prst="roundRect">
            <a:avLst>
              <a:gd name="adj" fmla="val 258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71" name="Table 0"/>
          <p:cNvGraphicFramePr/>
          <p:nvPr/>
        </p:nvGraphicFramePr>
        <p:xfrm>
          <a:off x="4485240" y="1276200"/>
          <a:ext cx="4086720" cy="2285640"/>
        </p:xfrm>
        <a:graphic>
          <a:graphicData uri="http://schemas.openxmlformats.org/drawingml/2006/table">
            <a:tbl>
              <a:tblPr/>
              <a:tblGrid>
                <a:gridCol w="1362240"/>
                <a:gridCol w="1362240"/>
                <a:gridCol w="1362240"/>
              </a:tblGrid>
              <a:tr h="5713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모델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CV AUC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Test AUC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원본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(ID</a:t>
                      </a:r>
                      <a:r>
                        <a:rPr b="0" lang="zh-CN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별 합집합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92.73%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EVM </a:t>
                      </a:r>
                      <a:r>
                        <a:rPr b="0" lang="zh-CN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단독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90.47%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89.16%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결합 </a:t>
                      </a: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</a:t>
                      </a:r>
                      <a:r>
                        <a:rPr b="1" lang="zh-CN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영역 제외</a:t>
                      </a: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27ae60"/>
                          </a:solidFill>
                          <a:latin typeface="Calibri"/>
                        </a:rPr>
                        <a:t>97.00%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27ae60"/>
                          </a:solidFill>
                          <a:latin typeface="Calibri"/>
                        </a:rPr>
                        <a:t>96.22%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/>
          <p:nvPr/>
        </p:nvSpPr>
        <p:spPr>
          <a:xfrm>
            <a:off x="0" y="0"/>
            <a:ext cx="9143640" cy="89496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Text 1"/>
          <p:cNvSpPr/>
          <p:nvPr/>
        </p:nvSpPr>
        <p:spPr>
          <a:xfrm>
            <a:off x="380880" y="190440"/>
            <a:ext cx="85492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  <a:ea typeface="Arial"/>
              </a:rPr>
              <a:t>Feature Importance </a:t>
            </a:r>
            <a:r>
              <a:rPr b="1" lang="zh-CN" sz="2800" spc="-1" strike="noStrike">
                <a:solidFill>
                  <a:srgbClr val="ffffff"/>
                </a:solidFill>
                <a:latin typeface="Arial"/>
                <a:ea typeface="Arial"/>
              </a:rPr>
              <a:t>분석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380880" y="1085760"/>
            <a:ext cx="4593960" cy="3930480"/>
          </a:xfrm>
          <a:prstGeom prst="roundRect">
            <a:avLst>
              <a:gd name="adj" fmla="val 258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Text 3"/>
          <p:cNvSpPr/>
          <p:nvPr/>
        </p:nvSpPr>
        <p:spPr>
          <a:xfrm>
            <a:off x="5229000" y="1085760"/>
            <a:ext cx="3533400" cy="1463040"/>
          </a:xfrm>
          <a:prstGeom prst="roundRect">
            <a:avLst>
              <a:gd name="adj" fmla="val 5206"/>
            </a:avLst>
          </a:prstGeom>
          <a:solidFill>
            <a:srgbClr val="fcf3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Shape 4"/>
          <p:cNvSpPr/>
          <p:nvPr/>
        </p:nvSpPr>
        <p:spPr>
          <a:xfrm>
            <a:off x="5252760" y="1085760"/>
            <a:ext cx="360" cy="1463400"/>
          </a:xfrm>
          <a:prstGeom prst="line">
            <a:avLst/>
          </a:prstGeom>
          <a:ln w="47625">
            <a:solidFill>
              <a:srgbClr val="f1c4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5429160" y="1238400"/>
            <a:ext cx="32446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zh-CN" sz="1400" spc="-1" strike="noStrike">
                <a:solidFill>
                  <a:srgbClr val="7d6608"/>
                </a:solidFill>
                <a:latin typeface="Arial"/>
                <a:ea typeface="Arial"/>
              </a:rPr>
              <a:t>병든 닭의 특성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5429160" y="1596960"/>
            <a:ext cx="3244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7d6608"/>
                </a:solidFill>
                <a:latin typeface="Arial"/>
                <a:ea typeface="Arial"/>
              </a:rPr>
              <a:t>1. </a:t>
            </a:r>
            <a:r>
              <a:rPr b="0" lang="zh-CN" sz="1200" spc="-1" strike="noStrike">
                <a:solidFill>
                  <a:srgbClr val="7d6608"/>
                </a:solidFill>
                <a:latin typeface="Arial"/>
                <a:ea typeface="Arial"/>
              </a:rPr>
              <a:t>느린 움직임 </a:t>
            </a:r>
            <a:r>
              <a:rPr b="0" lang="en-US" sz="1200" spc="-1" strike="noStrike">
                <a:solidFill>
                  <a:srgbClr val="7d6608"/>
                </a:solidFill>
                <a:latin typeface="Arial"/>
                <a:ea typeface="Arial"/>
              </a:rPr>
              <a:t>(</a:t>
            </a:r>
            <a:r>
              <a:rPr b="0" lang="zh-CN" sz="1200" spc="-1" strike="noStrike">
                <a:solidFill>
                  <a:srgbClr val="7d6608"/>
                </a:solidFill>
                <a:latin typeface="Arial"/>
                <a:ea typeface="Arial"/>
              </a:rPr>
              <a:t>낮은 </a:t>
            </a:r>
            <a:r>
              <a:rPr b="0" lang="en-US" sz="1200" spc="-1" strike="noStrike">
                <a:solidFill>
                  <a:srgbClr val="7d6608"/>
                </a:solidFill>
                <a:latin typeface="Arial"/>
                <a:ea typeface="Arial"/>
              </a:rPr>
              <a:t>magnitude)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5429160" y="1863720"/>
            <a:ext cx="3244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7d6608"/>
                </a:solidFill>
                <a:latin typeface="Arial"/>
                <a:ea typeface="Arial"/>
              </a:rPr>
              <a:t>2. </a:t>
            </a:r>
            <a:r>
              <a:rPr b="0" lang="zh-CN" sz="1200" spc="-1" strike="noStrike">
                <a:solidFill>
                  <a:srgbClr val="7d6608"/>
                </a:solidFill>
                <a:latin typeface="Arial"/>
                <a:ea typeface="Arial"/>
              </a:rPr>
              <a:t>일정한 방향 </a:t>
            </a:r>
            <a:r>
              <a:rPr b="0" lang="en-US" sz="1200" spc="-1" strike="noStrike">
                <a:solidFill>
                  <a:srgbClr val="7d6608"/>
                </a:solidFill>
                <a:latin typeface="Arial"/>
                <a:ea typeface="Arial"/>
              </a:rPr>
              <a:t>(</a:t>
            </a:r>
            <a:r>
              <a:rPr b="0" lang="zh-CN" sz="1200" spc="-1" strike="noStrike">
                <a:solidFill>
                  <a:srgbClr val="7d6608"/>
                </a:solidFill>
                <a:latin typeface="Arial"/>
                <a:ea typeface="Arial"/>
              </a:rPr>
              <a:t>높은 </a:t>
            </a:r>
            <a:r>
              <a:rPr b="0" lang="en-US" sz="1200" spc="-1" strike="noStrike">
                <a:solidFill>
                  <a:srgbClr val="7d6608"/>
                </a:solidFill>
                <a:latin typeface="Arial"/>
                <a:ea typeface="Arial"/>
              </a:rPr>
              <a:t>direction uniformity)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8"/>
          <p:cNvSpPr/>
          <p:nvPr/>
        </p:nvSpPr>
        <p:spPr>
          <a:xfrm>
            <a:off x="5429160" y="2130480"/>
            <a:ext cx="3244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7d6608"/>
                </a:solidFill>
                <a:latin typeface="Arial"/>
                <a:ea typeface="Arial"/>
              </a:rPr>
              <a:t>3. </a:t>
            </a:r>
            <a:r>
              <a:rPr b="0" lang="zh-CN" sz="1200" spc="-1" strike="noStrike">
                <a:solidFill>
                  <a:srgbClr val="7d6608"/>
                </a:solidFill>
                <a:latin typeface="Arial"/>
                <a:ea typeface="Arial"/>
              </a:rPr>
              <a:t>낮은 전체 활동량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9"/>
          <p:cNvSpPr/>
          <p:nvPr/>
        </p:nvSpPr>
        <p:spPr>
          <a:xfrm>
            <a:off x="5229000" y="2739960"/>
            <a:ext cx="3533400" cy="672480"/>
          </a:xfrm>
          <a:prstGeom prst="roundRect">
            <a:avLst>
              <a:gd name="adj" fmla="val 11322"/>
            </a:avLst>
          </a:prstGeom>
          <a:solidFill>
            <a:srgbClr val="ebf5fb"/>
          </a:solidFill>
          <a:ln w="9525">
            <a:solidFill>
              <a:srgbClr val="3498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5365440" y="2876400"/>
            <a:ext cx="33256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5276"/>
                </a:solidFill>
                <a:latin typeface="Arial"/>
                <a:ea typeface="Arial"/>
              </a:rPr>
              <a:t>EVM </a:t>
            </a:r>
            <a:r>
              <a:rPr b="1" lang="zh-CN" sz="1100" spc="-1" strike="noStrike">
                <a:solidFill>
                  <a:srgbClr val="1a5276"/>
                </a:solidFill>
                <a:latin typeface="Arial"/>
                <a:ea typeface="Arial"/>
              </a:rPr>
              <a:t>기여</a:t>
            </a:r>
            <a:r>
              <a:rPr b="1" lang="en-US" sz="1100" spc="-1" strike="noStrike">
                <a:solidFill>
                  <a:srgbClr val="1a5276"/>
                </a:solidFill>
                <a:latin typeface="Arial"/>
                <a:ea typeface="Arial"/>
              </a:rPr>
              <a:t>:</a:t>
            </a:r>
            <a:r>
              <a:rPr b="0" lang="en-US" sz="1100" spc="-1" strike="noStrike">
                <a:solidFill>
                  <a:srgbClr val="1a5276"/>
                </a:solidFill>
                <a:latin typeface="Arial"/>
                <a:ea typeface="Arial"/>
              </a:rPr>
              <a:t> </a:t>
            </a:r>
            <a:r>
              <a:rPr b="0" lang="zh-CN" sz="1100" spc="-1" strike="noStrike">
                <a:solidFill>
                  <a:srgbClr val="1a5276"/>
                </a:solidFill>
                <a:latin typeface="Arial"/>
                <a:ea typeface="Arial"/>
              </a:rPr>
              <a:t>미세 움직임을 증폭하여 방향 일관성 패턴을 더 명확하게 포착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3" name="Table 0"/>
          <p:cNvGraphicFramePr/>
          <p:nvPr/>
        </p:nvGraphicFramePr>
        <p:xfrm>
          <a:off x="571680" y="1276200"/>
          <a:ext cx="4212720" cy="2887920"/>
        </p:xfrm>
        <a:graphic>
          <a:graphicData uri="http://schemas.openxmlformats.org/drawingml/2006/table">
            <a:tbl>
              <a:tblPr/>
              <a:tblGrid>
                <a:gridCol w="1053000"/>
                <a:gridCol w="1053000"/>
                <a:gridCol w="1053000"/>
                <a:gridCol w="1053000"/>
              </a:tblGrid>
              <a:tr h="465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순위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피처명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중요도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의미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</a:tr>
              <a:tr h="465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8e44ad"/>
                          </a:solidFill>
                          <a:latin typeface="Calibri"/>
                        </a:rPr>
                        <a:t>evm_dir_uni_p99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7,920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EVM </a:t>
                      </a:r>
                      <a:r>
                        <a:rPr b="0" lang="zh-CN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방향 일관성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465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3498db"/>
                          </a:solidFill>
                          <a:latin typeface="Calibri"/>
                        </a:rPr>
                        <a:t>mag_mean_p00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5,597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낮은 움직임 비율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465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3498db"/>
                          </a:solidFill>
                          <a:latin typeface="Calibri"/>
                        </a:rPr>
                        <a:t>activity_mean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4,278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평균 활동량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465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3498db"/>
                          </a:solidFill>
                          <a:latin typeface="Calibri"/>
                        </a:rPr>
                        <a:t>dir_uni_p99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3,187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방향 일관성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465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3498db"/>
                          </a:solidFill>
                          <a:latin typeface="Calibri"/>
                        </a:rPr>
                        <a:t>mag_mean_p01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2,490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낮은 움직임 비율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0" y="0"/>
            <a:ext cx="9143640" cy="89496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Text 1"/>
          <p:cNvSpPr/>
          <p:nvPr/>
        </p:nvSpPr>
        <p:spPr>
          <a:xfrm>
            <a:off x="380880" y="190440"/>
            <a:ext cx="85492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pc="-1" strike="noStrike">
                <a:solidFill>
                  <a:srgbClr val="ffffff"/>
                </a:solidFill>
                <a:latin typeface="Arial"/>
                <a:ea typeface="Arial"/>
              </a:rPr>
              <a:t>최종 모델 성능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380880" y="1149120"/>
            <a:ext cx="4032000" cy="2767320"/>
          </a:xfrm>
          <a:prstGeom prst="roundRect">
            <a:avLst>
              <a:gd name="adj" fmla="val 3671"/>
            </a:avLst>
          </a:prstGeom>
          <a:solidFill>
            <a:srgbClr val="ffffff"/>
          </a:solidFill>
          <a:ln w="1905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Text 3"/>
          <p:cNvSpPr/>
          <p:nvPr/>
        </p:nvSpPr>
        <p:spPr>
          <a:xfrm>
            <a:off x="619200" y="1422360"/>
            <a:ext cx="35557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1e8449"/>
                </a:solidFill>
                <a:latin typeface="Arial"/>
                <a:ea typeface="Arial"/>
              </a:rPr>
              <a:t>LightGBM (</a:t>
            </a:r>
            <a:r>
              <a:rPr b="1" lang="zh-CN" sz="1600" spc="-1" strike="noStrike">
                <a:solidFill>
                  <a:srgbClr val="1e8449"/>
                </a:solidFill>
                <a:latin typeface="Arial"/>
                <a:ea typeface="Arial"/>
              </a:rPr>
              <a:t>영역 피처 제외</a:t>
            </a:r>
            <a:r>
              <a:rPr b="1" lang="en-US" sz="1600" spc="-1" strike="noStrike">
                <a:solidFill>
                  <a:srgbClr val="1e8449"/>
                </a:solidFill>
                <a:latin typeface="Arial"/>
                <a:ea typeface="Arial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4"/>
          <p:cNvSpPr/>
          <p:nvPr/>
        </p:nvSpPr>
        <p:spPr>
          <a:xfrm>
            <a:off x="653760" y="2325240"/>
            <a:ext cx="3486600" cy="360"/>
          </a:xfrm>
          <a:prstGeom prst="line">
            <a:avLst/>
          </a:prstGeom>
          <a:ln w="9525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654120" y="2009520"/>
            <a:ext cx="674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CV AUC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3537720" y="2009520"/>
            <a:ext cx="614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97.00%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7"/>
          <p:cNvSpPr/>
          <p:nvPr/>
        </p:nvSpPr>
        <p:spPr>
          <a:xfrm>
            <a:off x="653760" y="2747160"/>
            <a:ext cx="3486600" cy="360"/>
          </a:xfrm>
          <a:prstGeom prst="line">
            <a:avLst/>
          </a:prstGeom>
          <a:ln w="9525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8"/>
          <p:cNvSpPr/>
          <p:nvPr/>
        </p:nvSpPr>
        <p:spPr>
          <a:xfrm>
            <a:off x="654120" y="2431440"/>
            <a:ext cx="755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Test AUC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3537720" y="2431440"/>
            <a:ext cx="614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96.22%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0"/>
          <p:cNvSpPr/>
          <p:nvPr/>
        </p:nvSpPr>
        <p:spPr>
          <a:xfrm>
            <a:off x="653760" y="3169440"/>
            <a:ext cx="3486600" cy="360"/>
          </a:xfrm>
          <a:prstGeom prst="line">
            <a:avLst/>
          </a:prstGeom>
          <a:ln w="9525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1"/>
          <p:cNvSpPr/>
          <p:nvPr/>
        </p:nvSpPr>
        <p:spPr>
          <a:xfrm>
            <a:off x="654120" y="2853720"/>
            <a:ext cx="1117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Test Accuracy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2"/>
          <p:cNvSpPr/>
          <p:nvPr/>
        </p:nvSpPr>
        <p:spPr>
          <a:xfrm>
            <a:off x="3537720" y="2853720"/>
            <a:ext cx="614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90.67%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3"/>
          <p:cNvSpPr/>
          <p:nvPr/>
        </p:nvSpPr>
        <p:spPr>
          <a:xfrm>
            <a:off x="653760" y="3638880"/>
            <a:ext cx="3486600" cy="360"/>
          </a:xfrm>
          <a:prstGeom prst="line">
            <a:avLst/>
          </a:prstGeom>
          <a:ln w="9525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4"/>
          <p:cNvSpPr/>
          <p:nvPr/>
        </p:nvSpPr>
        <p:spPr>
          <a:xfrm>
            <a:off x="654120" y="3275640"/>
            <a:ext cx="545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400" spc="-1" strike="noStrike">
                <a:solidFill>
                  <a:srgbClr val="2c3e50"/>
                </a:solidFill>
                <a:latin typeface="Arial"/>
                <a:ea typeface="Arial"/>
              </a:rPr>
              <a:t>피처 수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5"/>
          <p:cNvSpPr/>
          <p:nvPr/>
        </p:nvSpPr>
        <p:spPr>
          <a:xfrm>
            <a:off x="3681720" y="3275640"/>
            <a:ext cx="4672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806</a:t>
            </a:r>
            <a:r>
              <a:rPr b="1" lang="zh-CN" sz="1400" spc="-1" strike="noStrike">
                <a:solidFill>
                  <a:srgbClr val="2c3e50"/>
                </a:solidFill>
                <a:latin typeface="Arial"/>
                <a:ea typeface="Arial"/>
              </a:rPr>
              <a:t>개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6"/>
          <p:cNvSpPr/>
          <p:nvPr/>
        </p:nvSpPr>
        <p:spPr>
          <a:xfrm>
            <a:off x="4730760" y="1149120"/>
            <a:ext cx="4032000" cy="2967840"/>
          </a:xfrm>
          <a:prstGeom prst="roundRect">
            <a:avLst>
              <a:gd name="adj" fmla="val 342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Text 17"/>
          <p:cNvSpPr/>
          <p:nvPr/>
        </p:nvSpPr>
        <p:spPr>
          <a:xfrm>
            <a:off x="4949280" y="1403280"/>
            <a:ext cx="35946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Confusion Matrix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2" name="Table 0"/>
          <p:cNvGraphicFramePr/>
          <p:nvPr/>
        </p:nvGraphicFramePr>
        <p:xfrm>
          <a:off x="4984560" y="1831680"/>
          <a:ext cx="3524040" cy="2031480"/>
        </p:xfrm>
        <a:graphic>
          <a:graphicData uri="http://schemas.openxmlformats.org/drawingml/2006/table">
            <a:tbl>
              <a:tblPr/>
              <a:tblGrid>
                <a:gridCol w="1174680"/>
                <a:gridCol w="1174680"/>
                <a:gridCol w="1174680"/>
              </a:tblGrid>
              <a:tr h="677160">
                <a:tc>
                  <a:txBody>
                    <a:bodyPr anchor="ctr">
                      <a:noAutofit/>
                    </a:bodyPr>
                    <a:p>
                      <a:endParaRPr b="0" lang="en-US" sz="13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91440" marR="91440">
                    <a:lnL w="25200">
                      <a:solidFill>
                        <a:srgbClr val="bdc3c7"/>
                      </a:solidFill>
                      <a:prstDash val="solid"/>
                    </a:lnL>
                    <a:lnR w="25200">
                      <a:solidFill>
                        <a:srgbClr val="bdc3c7"/>
                      </a:solidFill>
                      <a:prstDash val="solid"/>
                    </a:lnR>
                    <a:lnT w="25200">
                      <a:solidFill>
                        <a:srgbClr val="bdc3c7"/>
                      </a:solidFill>
                      <a:prstDash val="solid"/>
                    </a:lnT>
                    <a:lnB w="25200">
                      <a:solidFill>
                        <a:srgbClr val="bdc3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Pred Normal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5200">
                      <a:solidFill>
                        <a:srgbClr val="bdc3c7"/>
                      </a:solidFill>
                      <a:prstDash val="solid"/>
                    </a:lnL>
                    <a:lnR w="25200">
                      <a:solidFill>
                        <a:srgbClr val="bdc3c7"/>
                      </a:solidFill>
                      <a:prstDash val="solid"/>
                    </a:lnR>
                    <a:lnT w="25200">
                      <a:solidFill>
                        <a:srgbClr val="bdc3c7"/>
                      </a:solidFill>
                      <a:prstDash val="solid"/>
                    </a:lnT>
                    <a:lnB w="25200">
                      <a:solidFill>
                        <a:srgbClr val="bdc3c7"/>
                      </a:solidFill>
                      <a:prstDash val="soli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Pred Sick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5200">
                      <a:solidFill>
                        <a:srgbClr val="bdc3c7"/>
                      </a:solidFill>
                      <a:prstDash val="solid"/>
                    </a:lnL>
                    <a:lnR w="25200">
                      <a:solidFill>
                        <a:srgbClr val="bdc3c7"/>
                      </a:solidFill>
                      <a:prstDash val="solid"/>
                    </a:lnR>
                    <a:lnT w="25200">
                      <a:solidFill>
                        <a:srgbClr val="bdc3c7"/>
                      </a:solidFill>
                      <a:prstDash val="solid"/>
                    </a:lnT>
                    <a:lnB w="25200">
                      <a:solidFill>
                        <a:srgbClr val="bdc3c7"/>
                      </a:solidFill>
                      <a:prstDash val="solid"/>
                    </a:lnB>
                    <a:solidFill>
                      <a:srgbClr val="e74c3c"/>
                    </a:solidFill>
                  </a:tcPr>
                </a:tc>
              </a:tr>
              <a:tr h="6771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Actual Normal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5200">
                      <a:solidFill>
                        <a:srgbClr val="bdc3c7"/>
                      </a:solidFill>
                      <a:prstDash val="solid"/>
                    </a:lnL>
                    <a:lnR w="25200">
                      <a:solidFill>
                        <a:srgbClr val="bdc3c7"/>
                      </a:solidFill>
                      <a:prstDash val="solid"/>
                    </a:lnR>
                    <a:lnT w="25200">
                      <a:solidFill>
                        <a:srgbClr val="bdc3c7"/>
                      </a:solidFill>
                      <a:prstDash val="solid"/>
                    </a:lnT>
                    <a:lnB w="25200">
                      <a:solidFill>
                        <a:srgbClr val="bdc3c7"/>
                      </a:solidFill>
                      <a:prstDash val="soli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27ae60"/>
                          </a:solidFill>
                          <a:latin typeface="Calibri"/>
                        </a:rPr>
                        <a:t>913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5200">
                      <a:solidFill>
                        <a:srgbClr val="bdc3c7"/>
                      </a:solidFill>
                      <a:prstDash val="solid"/>
                    </a:lnL>
                    <a:lnR w="25200">
                      <a:solidFill>
                        <a:srgbClr val="bdc3c7"/>
                      </a:solidFill>
                      <a:prstDash val="solid"/>
                    </a:lnR>
                    <a:lnT w="25200">
                      <a:solidFill>
                        <a:srgbClr val="bdc3c7"/>
                      </a:solidFill>
                      <a:prstDash val="solid"/>
                    </a:lnT>
                    <a:lnB w="25200">
                      <a:solidFill>
                        <a:srgbClr val="bdc3c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e74c3c"/>
                          </a:solidFill>
                          <a:latin typeface="Calibri"/>
                        </a:rPr>
                        <a:t>100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5200">
                      <a:solidFill>
                        <a:srgbClr val="bdc3c7"/>
                      </a:solidFill>
                      <a:prstDash val="solid"/>
                    </a:lnL>
                    <a:lnR w="25200">
                      <a:solidFill>
                        <a:srgbClr val="bdc3c7"/>
                      </a:solidFill>
                      <a:prstDash val="solid"/>
                    </a:lnR>
                    <a:lnT w="25200">
                      <a:solidFill>
                        <a:srgbClr val="bdc3c7"/>
                      </a:solidFill>
                      <a:prstDash val="solid"/>
                    </a:lnT>
                    <a:lnB w="25200">
                      <a:solidFill>
                        <a:srgbClr val="bdc3c7"/>
                      </a:solidFill>
                      <a:prstDash val="solid"/>
                    </a:lnB>
                    <a:noFill/>
                  </a:tcPr>
                </a:tc>
              </a:tr>
              <a:tr h="6771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Actual Sick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5200">
                      <a:solidFill>
                        <a:srgbClr val="bdc3c7"/>
                      </a:solidFill>
                      <a:prstDash val="solid"/>
                    </a:lnL>
                    <a:lnR w="25200">
                      <a:solidFill>
                        <a:srgbClr val="bdc3c7"/>
                      </a:solidFill>
                      <a:prstDash val="solid"/>
                    </a:lnR>
                    <a:lnT w="25200">
                      <a:solidFill>
                        <a:srgbClr val="bdc3c7"/>
                      </a:solidFill>
                      <a:prstDash val="solid"/>
                    </a:lnT>
                    <a:lnB w="25200">
                      <a:solidFill>
                        <a:srgbClr val="bdc3c7"/>
                      </a:solidFill>
                      <a:prstDash val="soli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e74c3c"/>
                          </a:solidFill>
                          <a:latin typeface="Calibri"/>
                        </a:rPr>
                        <a:t>89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5200">
                      <a:solidFill>
                        <a:srgbClr val="bdc3c7"/>
                      </a:solidFill>
                      <a:prstDash val="solid"/>
                    </a:lnL>
                    <a:lnR w="25200">
                      <a:solidFill>
                        <a:srgbClr val="bdc3c7"/>
                      </a:solidFill>
                      <a:prstDash val="solid"/>
                    </a:lnR>
                    <a:lnT w="25200">
                      <a:solidFill>
                        <a:srgbClr val="bdc3c7"/>
                      </a:solidFill>
                      <a:prstDash val="solid"/>
                    </a:lnT>
                    <a:lnB w="25200">
                      <a:solidFill>
                        <a:srgbClr val="bdc3c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27ae60"/>
                          </a:solidFill>
                          <a:latin typeface="Calibri"/>
                        </a:rPr>
                        <a:t>924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5200">
                      <a:solidFill>
                        <a:srgbClr val="bdc3c7"/>
                      </a:solidFill>
                      <a:prstDash val="solid"/>
                    </a:lnL>
                    <a:lnR w="25200">
                      <a:solidFill>
                        <a:srgbClr val="bdc3c7"/>
                      </a:solidFill>
                      <a:prstDash val="solid"/>
                    </a:lnR>
                    <a:lnT w="25200">
                      <a:solidFill>
                        <a:srgbClr val="bdc3c7"/>
                      </a:solidFill>
                      <a:prstDash val="solid"/>
                    </a:lnT>
                    <a:lnB w="25200">
                      <a:solidFill>
                        <a:srgbClr val="bdc3c7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0" y="0"/>
            <a:ext cx="9143640" cy="89496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380880" y="190440"/>
            <a:ext cx="85492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pc="-1" strike="noStrike">
                <a:solidFill>
                  <a:srgbClr val="ffffff"/>
                </a:solidFill>
                <a:latin typeface="Arial"/>
                <a:ea typeface="Arial"/>
              </a:rPr>
              <a:t>결론 및 향후 계획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380880" y="1085760"/>
            <a:ext cx="4063680" cy="3930480"/>
          </a:xfrm>
          <a:prstGeom prst="roundRect">
            <a:avLst>
              <a:gd name="adj" fmla="val 1939"/>
            </a:avLst>
          </a:prstGeom>
          <a:solidFill>
            <a:srgbClr val="d5f5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404640" y="1085760"/>
            <a:ext cx="360" cy="3930480"/>
          </a:xfrm>
          <a:prstGeom prst="line">
            <a:avLst/>
          </a:prstGeom>
          <a:ln w="47625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619200" y="1276200"/>
            <a:ext cx="3707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zh-CN" sz="1800" spc="-1" strike="noStrike">
                <a:solidFill>
                  <a:srgbClr val="1e8449"/>
                </a:solidFill>
                <a:latin typeface="Arial"/>
                <a:ea typeface="Arial"/>
              </a:rPr>
              <a:t>핵심 발견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619200" y="1800360"/>
            <a:ext cx="37076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e8449"/>
                </a:solidFill>
                <a:latin typeface="Arial"/>
                <a:ea typeface="Arial"/>
              </a:rPr>
              <a:t>1. ID</a:t>
            </a:r>
            <a:r>
              <a:rPr b="0" lang="zh-CN" sz="1300" spc="-1" strike="noStrike">
                <a:solidFill>
                  <a:srgbClr val="1e8449"/>
                </a:solidFill>
                <a:latin typeface="Arial"/>
                <a:ea typeface="Arial"/>
              </a:rPr>
              <a:t>별 추적이 전체 프레임 대비 </a:t>
            </a:r>
            <a:r>
              <a:rPr b="0" lang="en-US" sz="1300" spc="-1" strike="noStrike">
                <a:solidFill>
                  <a:srgbClr val="1e8449"/>
                </a:solidFill>
                <a:latin typeface="Arial"/>
                <a:ea typeface="Arial"/>
              </a:rPr>
              <a:t>6-7%p </a:t>
            </a:r>
            <a:r>
              <a:rPr b="0" lang="zh-CN" sz="1300" spc="-1" strike="noStrike">
                <a:solidFill>
                  <a:srgbClr val="1e8449"/>
                </a:solidFill>
                <a:latin typeface="Arial"/>
                <a:ea typeface="Arial"/>
              </a:rPr>
              <a:t>성능 향상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619200" y="2139840"/>
            <a:ext cx="370764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e8449"/>
                </a:solidFill>
                <a:latin typeface="Arial"/>
                <a:ea typeface="Arial"/>
              </a:rPr>
              <a:t>2. EVM</a:t>
            </a:r>
            <a:r>
              <a:rPr b="0" lang="zh-CN" sz="1300" spc="-1" strike="noStrike">
                <a:solidFill>
                  <a:srgbClr val="1e8449"/>
                </a:solidFill>
                <a:latin typeface="Arial"/>
                <a:ea typeface="Arial"/>
              </a:rPr>
              <a:t>이 미세 움직임 패턴을 증폭하여 분류 정확도 향상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619200" y="2717640"/>
            <a:ext cx="37076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e8449"/>
                </a:solidFill>
                <a:latin typeface="Arial"/>
                <a:ea typeface="Arial"/>
              </a:rPr>
              <a:t>3. </a:t>
            </a:r>
            <a:r>
              <a:rPr b="0" lang="zh-CN" sz="1300" spc="-1" strike="noStrike">
                <a:solidFill>
                  <a:srgbClr val="1e8449"/>
                </a:solidFill>
                <a:latin typeface="Arial"/>
                <a:ea typeface="Arial"/>
              </a:rPr>
              <a:t>병든 닭의 행동 특성</a:t>
            </a:r>
            <a:r>
              <a:rPr b="0" lang="en-US" sz="1300" spc="-1" strike="noStrike">
                <a:solidFill>
                  <a:srgbClr val="1e8449"/>
                </a:solidFill>
                <a:latin typeface="Arial"/>
                <a:ea typeface="Arial"/>
              </a:rPr>
              <a:t>: </a:t>
            </a:r>
            <a:r>
              <a:rPr b="0" lang="zh-CN" sz="1300" spc="-1" strike="noStrike">
                <a:solidFill>
                  <a:srgbClr val="1e8449"/>
                </a:solidFill>
                <a:latin typeface="Arial"/>
                <a:ea typeface="Arial"/>
              </a:rPr>
              <a:t>느린 움직임 </a:t>
            </a:r>
            <a:r>
              <a:rPr b="0" lang="en-US" sz="1300" spc="-1" strike="noStrike">
                <a:solidFill>
                  <a:srgbClr val="1e8449"/>
                </a:solidFill>
                <a:latin typeface="Arial"/>
                <a:ea typeface="Arial"/>
              </a:rPr>
              <a:t>+ </a:t>
            </a:r>
            <a:r>
              <a:rPr b="0" lang="zh-CN" sz="1300" spc="-1" strike="noStrike">
                <a:solidFill>
                  <a:srgbClr val="1e8449"/>
                </a:solidFill>
                <a:latin typeface="Arial"/>
                <a:ea typeface="Arial"/>
              </a:rPr>
              <a:t>일정한 방향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619200" y="3057120"/>
            <a:ext cx="37076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e8449"/>
                </a:solidFill>
                <a:latin typeface="Arial"/>
                <a:ea typeface="Arial"/>
              </a:rPr>
              <a:t>4. </a:t>
            </a:r>
            <a:r>
              <a:rPr b="0" lang="zh-CN" sz="1300" spc="-1" strike="noStrike">
                <a:solidFill>
                  <a:srgbClr val="1e8449"/>
                </a:solidFill>
                <a:latin typeface="Arial"/>
                <a:ea typeface="Arial"/>
              </a:rPr>
              <a:t>영역</a:t>
            </a:r>
            <a:r>
              <a:rPr b="0" lang="en-US" sz="1300" spc="-1" strike="noStrike">
                <a:solidFill>
                  <a:srgbClr val="1e8449"/>
                </a:solidFill>
                <a:latin typeface="Arial"/>
                <a:ea typeface="Arial"/>
              </a:rPr>
              <a:t>/</a:t>
            </a:r>
            <a:r>
              <a:rPr b="0" lang="zh-CN" sz="1300" spc="-1" strike="noStrike">
                <a:solidFill>
                  <a:srgbClr val="1e8449"/>
                </a:solidFill>
                <a:latin typeface="Arial"/>
                <a:ea typeface="Arial"/>
              </a:rPr>
              <a:t>개체수 피처 제외로 일반화 성능 확보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4699080" y="1085760"/>
            <a:ext cx="4063680" cy="3930480"/>
          </a:xfrm>
          <a:prstGeom prst="roundRect">
            <a:avLst>
              <a:gd name="adj" fmla="val 1939"/>
            </a:avLst>
          </a:prstGeom>
          <a:solidFill>
            <a:srgbClr val="ebf5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Shape 10"/>
          <p:cNvSpPr/>
          <p:nvPr/>
        </p:nvSpPr>
        <p:spPr>
          <a:xfrm>
            <a:off x="4722480" y="1085760"/>
            <a:ext cx="360" cy="3930480"/>
          </a:xfrm>
          <a:prstGeom prst="line">
            <a:avLst/>
          </a:prstGeom>
          <a:ln w="47625">
            <a:solidFill>
              <a:srgbClr val="3498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4937040" y="1276200"/>
            <a:ext cx="3707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zh-CN" sz="1800" spc="-1" strike="noStrike">
                <a:solidFill>
                  <a:srgbClr val="1a5276"/>
                </a:solidFill>
                <a:latin typeface="Arial"/>
                <a:ea typeface="Arial"/>
              </a:rPr>
              <a:t>향후 계획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4937040" y="1800360"/>
            <a:ext cx="37076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a5276"/>
                </a:solidFill>
                <a:latin typeface="Arial"/>
                <a:ea typeface="Arial"/>
              </a:rPr>
              <a:t>1. </a:t>
            </a:r>
            <a:r>
              <a:rPr b="0" lang="zh-CN" sz="1300" spc="-1" strike="noStrike">
                <a:solidFill>
                  <a:srgbClr val="1a5276"/>
                </a:solidFill>
                <a:latin typeface="Arial"/>
                <a:ea typeface="Arial"/>
              </a:rPr>
              <a:t>시계열 모델 적용 </a:t>
            </a:r>
            <a:r>
              <a:rPr b="0" lang="en-US" sz="1300" spc="-1" strike="noStrike">
                <a:solidFill>
                  <a:srgbClr val="1a5276"/>
                </a:solidFill>
                <a:latin typeface="Arial"/>
                <a:ea typeface="Arial"/>
              </a:rPr>
              <a:t>(LSTM / Transformer)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3"/>
          <p:cNvSpPr/>
          <p:nvPr/>
        </p:nvSpPr>
        <p:spPr>
          <a:xfrm>
            <a:off x="4937040" y="2139840"/>
            <a:ext cx="37076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a5276"/>
                </a:solidFill>
                <a:latin typeface="Arial"/>
                <a:ea typeface="Arial"/>
              </a:rPr>
              <a:t>2. </a:t>
            </a:r>
            <a:r>
              <a:rPr b="0" lang="zh-CN" sz="1300" spc="-1" strike="noStrike">
                <a:solidFill>
                  <a:srgbClr val="1a5276"/>
                </a:solidFill>
                <a:latin typeface="Arial"/>
                <a:ea typeface="Arial"/>
              </a:rPr>
              <a:t>실시간 추론 최적화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4"/>
          <p:cNvSpPr/>
          <p:nvPr/>
        </p:nvSpPr>
        <p:spPr>
          <a:xfrm>
            <a:off x="4937040" y="2479320"/>
            <a:ext cx="37076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a5276"/>
                </a:solidFill>
                <a:latin typeface="Arial"/>
                <a:ea typeface="Arial"/>
              </a:rPr>
              <a:t>3. EVM </a:t>
            </a:r>
            <a:r>
              <a:rPr b="0" lang="zh-CN" sz="1300" spc="-1" strike="noStrike">
                <a:solidFill>
                  <a:srgbClr val="1a5276"/>
                </a:solidFill>
                <a:latin typeface="Arial"/>
                <a:ea typeface="Arial"/>
              </a:rPr>
              <a:t>파라미터 튜닝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5"/>
          <p:cNvSpPr/>
          <p:nvPr/>
        </p:nvSpPr>
        <p:spPr>
          <a:xfrm>
            <a:off x="4937040" y="2819160"/>
            <a:ext cx="37076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1a5276"/>
                </a:solidFill>
                <a:latin typeface="Arial"/>
                <a:ea typeface="Arial"/>
              </a:rPr>
              <a:t>4. </a:t>
            </a:r>
            <a:r>
              <a:rPr b="0" lang="zh-CN" sz="1300" spc="-1" strike="noStrike">
                <a:solidFill>
                  <a:srgbClr val="1a5276"/>
                </a:solidFill>
                <a:latin typeface="Arial"/>
                <a:ea typeface="Arial"/>
              </a:rPr>
              <a:t>다양한 카메라 환경 검증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LibreOffice/24.2.7.2$Linux_AARCH64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2026-01-04T07:02:22Z</dcterms:created>
  <dc:creator>SVI Team</dc:creator>
  <dc:description/>
  <dc:language>en-US</dc:language>
  <cp:lastModifiedBy/>
  <dcterms:modified xsi:type="dcterms:W3CDTF">2026-01-04T21:05:39Z</dcterms:modified>
  <cp:revision>2</cp:revision>
  <dc:subject>Optical Flow + EVM 기반 움직임 분석</dc:subject>
  <dc:title>양계장 CCTV 기반 닭 건강 상태 자동 분류 시스템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